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DZH\Downloads\Brightlearn\Case%20Studies\02_bright_tv_analysis\final_touched%20up_datas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DZH\Downloads\Brightlearn\Case%20Studies\02_bright_tv_analysis\final_touched%20up_datas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DZH\Downloads\Brightlearn\Case%20Studies\02_bright_tv_analysis\final_touched%20up_datas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DZH\Downloads\Brightlearn\Case%20Studies\02_bright_tv_analysis\final_touched%20up_datas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DZH\Downloads\Brightlearn\Case%20Studies\02_bright_tv_analysis\final_touched%20up_datas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3549633218924557"/>
          <c:y val="3.8194444444444448E-2"/>
          <c:w val="0.71674725755434421"/>
          <c:h val="0.8675229658792651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359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180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smtClean="0"/>
                      <a:t>1</a:t>
                    </a:r>
                    <a:r>
                      <a:rPr lang="en-US" baseline="0" smtClean="0"/>
                      <a:t> 484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mtClean="0"/>
                      <a:t>4</a:t>
                    </a:r>
                    <a:r>
                      <a:rPr lang="en-US" baseline="0" smtClean="0"/>
                      <a:t> 148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/>
                  <a:lstStyle/>
                  <a:p>
                    <a:r>
                      <a:rPr lang="en-US" smtClean="0"/>
                      <a:t>3</a:t>
                    </a:r>
                    <a:r>
                      <a:rPr lang="en-US" baseline="0" smtClean="0"/>
                      <a:t> 562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/>
              <c:tx>
                <c:rich>
                  <a:bodyPr/>
                  <a:lstStyle/>
                  <a:p>
                    <a:r>
                      <a:rPr lang="en-US" smtClean="0"/>
                      <a:t>359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1.Kids</c:v>
                </c:pt>
                <c:pt idx="1">
                  <c:v>2.Teens</c:v>
                </c:pt>
                <c:pt idx="2">
                  <c:v>3.Young Adults</c:v>
                </c:pt>
                <c:pt idx="3">
                  <c:v>4.Adults (25-34)</c:v>
                </c:pt>
                <c:pt idx="4">
                  <c:v>5.Mid-Age Adults</c:v>
                </c:pt>
                <c:pt idx="5">
                  <c:v>6.Seniors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340</c:v>
                </c:pt>
                <c:pt idx="1">
                  <c:v>110</c:v>
                </c:pt>
                <c:pt idx="2">
                  <c:v>1520</c:v>
                </c:pt>
                <c:pt idx="3">
                  <c:v>4100</c:v>
                </c:pt>
                <c:pt idx="4">
                  <c:v>3620</c:v>
                </c:pt>
                <c:pt idx="5">
                  <c:v>310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77681240"/>
        <c:axId val="277678888"/>
      </c:barChart>
      <c:catAx>
        <c:axId val="2776812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77678888"/>
        <c:crosses val="autoZero"/>
        <c:auto val="1"/>
        <c:lblAlgn val="ctr"/>
        <c:lblOffset val="100"/>
        <c:noMultiLvlLbl val="1"/>
      </c:catAx>
      <c:valAx>
        <c:axId val="277678888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77681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[final_touched up_datase.xlsx]daily_viewership!PivotTable4</c:name>
    <c:fmtId val="7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4.9628216024931705E-2"/>
          <c:y val="0.15527924307125515"/>
          <c:w val="0.88049356928652756"/>
          <c:h val="0.747599984440528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daily_viewership!$D$3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daily_viewership!$C$4:$C$11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daily_viewership!$D$4:$D$11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1553</c:v>
                </c:pt>
                <c:pt idx="3">
                  <c:v>1441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8046416"/>
        <c:axId val="228039360"/>
      </c:barChart>
      <c:catAx>
        <c:axId val="228046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039360"/>
        <c:crosses val="autoZero"/>
        <c:auto val="1"/>
        <c:lblAlgn val="ctr"/>
        <c:lblOffset val="100"/>
        <c:noMultiLvlLbl val="0"/>
      </c:catAx>
      <c:valAx>
        <c:axId val="228039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046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7220486705466168E-2"/>
          <c:y val="4.852835559734138E-2"/>
          <c:w val="0.91768289493704591"/>
          <c:h val="0.838895417923505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1.Morning</c:v>
                </c:pt>
                <c:pt idx="1">
                  <c:v>2.Afternoon</c:v>
                </c:pt>
                <c:pt idx="2">
                  <c:v>3.Evening Peak</c:v>
                </c:pt>
                <c:pt idx="3">
                  <c:v>4.Night</c:v>
                </c:pt>
                <c:pt idx="4">
                  <c:v>5.Late Night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2361</c:v>
                </c:pt>
                <c:pt idx="1">
                  <c:v>3086</c:v>
                </c:pt>
                <c:pt idx="2">
                  <c:v>2545</c:v>
                </c:pt>
                <c:pt idx="3">
                  <c:v>1447</c:v>
                </c:pt>
                <c:pt idx="4">
                  <c:v>561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7681632"/>
        <c:axId val="277682024"/>
      </c:barChart>
      <c:catAx>
        <c:axId val="277681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77682024"/>
        <c:crosses val="autoZero"/>
        <c:auto val="1"/>
        <c:lblAlgn val="ctr"/>
        <c:lblOffset val="100"/>
        <c:noMultiLvlLbl val="1"/>
      </c:catAx>
      <c:valAx>
        <c:axId val="27768202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77681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[final_touched up_datase.xlsx]age+time!PivotTable10</c:name>
    <c:fmtId val="2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'age+time'!$D$3:$D$4</c:f>
              <c:strCache>
                <c:ptCount val="1"/>
                <c:pt idx="0">
                  <c:v>6.Seniors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'age+time'!$C$5:$C$10</c:f>
              <c:strCache>
                <c:ptCount val="5"/>
                <c:pt idx="0">
                  <c:v>1.Morning</c:v>
                </c:pt>
                <c:pt idx="1">
                  <c:v>2.Afternoon</c:v>
                </c:pt>
                <c:pt idx="2">
                  <c:v>3.Evening Peak</c:v>
                </c:pt>
                <c:pt idx="3">
                  <c:v>4.Night</c:v>
                </c:pt>
                <c:pt idx="4">
                  <c:v>5.Late Night</c:v>
                </c:pt>
              </c:strCache>
            </c:strRef>
          </c:cat>
          <c:val>
            <c:numRef>
              <c:f>'age+time'!$D$5:$D$10</c:f>
              <c:numCache>
                <c:formatCode>General</c:formatCode>
                <c:ptCount val="5"/>
                <c:pt idx="0">
                  <c:v>62</c:v>
                </c:pt>
                <c:pt idx="1">
                  <c:v>87</c:v>
                </c:pt>
                <c:pt idx="2">
                  <c:v>72</c:v>
                </c:pt>
                <c:pt idx="3">
                  <c:v>29</c:v>
                </c:pt>
                <c:pt idx="4">
                  <c:v>17</c:v>
                </c:pt>
              </c:numCache>
            </c:numRef>
          </c:val>
        </c:ser>
        <c:ser>
          <c:idx val="1"/>
          <c:order val="1"/>
          <c:tx>
            <c:strRef>
              <c:f>'age+time'!$E$3:$E$4</c:f>
              <c:strCache>
                <c:ptCount val="1"/>
                <c:pt idx="0">
                  <c:v>5.Mid-Age Adults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'age+time'!$C$5:$C$10</c:f>
              <c:strCache>
                <c:ptCount val="5"/>
                <c:pt idx="0">
                  <c:v>1.Morning</c:v>
                </c:pt>
                <c:pt idx="1">
                  <c:v>2.Afternoon</c:v>
                </c:pt>
                <c:pt idx="2">
                  <c:v>3.Evening Peak</c:v>
                </c:pt>
                <c:pt idx="3">
                  <c:v>4.Night</c:v>
                </c:pt>
                <c:pt idx="4">
                  <c:v>5.Late Night</c:v>
                </c:pt>
              </c:strCache>
            </c:strRef>
          </c:cat>
          <c:val>
            <c:numRef>
              <c:f>'age+time'!$E$5:$E$10</c:f>
              <c:numCache>
                <c:formatCode>General</c:formatCode>
                <c:ptCount val="5"/>
                <c:pt idx="0">
                  <c:v>810</c:v>
                </c:pt>
                <c:pt idx="1">
                  <c:v>1112</c:v>
                </c:pt>
                <c:pt idx="2">
                  <c:v>969</c:v>
                </c:pt>
                <c:pt idx="3">
                  <c:v>483</c:v>
                </c:pt>
                <c:pt idx="4">
                  <c:v>188</c:v>
                </c:pt>
              </c:numCache>
            </c:numRef>
          </c:val>
        </c:ser>
        <c:ser>
          <c:idx val="2"/>
          <c:order val="2"/>
          <c:tx>
            <c:strRef>
              <c:f>'age+time'!$F$3:$F$4</c:f>
              <c:strCache>
                <c:ptCount val="1"/>
                <c:pt idx="0">
                  <c:v>4.Adults (25-34)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'age+time'!$C$5:$C$10</c:f>
              <c:strCache>
                <c:ptCount val="5"/>
                <c:pt idx="0">
                  <c:v>1.Morning</c:v>
                </c:pt>
                <c:pt idx="1">
                  <c:v>2.Afternoon</c:v>
                </c:pt>
                <c:pt idx="2">
                  <c:v>3.Evening Peak</c:v>
                </c:pt>
                <c:pt idx="3">
                  <c:v>4.Night</c:v>
                </c:pt>
                <c:pt idx="4">
                  <c:v>5.Late Night</c:v>
                </c:pt>
              </c:strCache>
            </c:strRef>
          </c:cat>
          <c:val>
            <c:numRef>
              <c:f>'age+time'!$F$5:$F$10</c:f>
              <c:numCache>
                <c:formatCode>General</c:formatCode>
                <c:ptCount val="5"/>
                <c:pt idx="0">
                  <c:v>984</c:v>
                </c:pt>
                <c:pt idx="1">
                  <c:v>1275</c:v>
                </c:pt>
                <c:pt idx="2">
                  <c:v>1034</c:v>
                </c:pt>
                <c:pt idx="3">
                  <c:v>615</c:v>
                </c:pt>
                <c:pt idx="4">
                  <c:v>240</c:v>
                </c:pt>
              </c:numCache>
            </c:numRef>
          </c:val>
        </c:ser>
        <c:ser>
          <c:idx val="3"/>
          <c:order val="3"/>
          <c:tx>
            <c:strRef>
              <c:f>'age+time'!$G$3:$G$4</c:f>
              <c:strCache>
                <c:ptCount val="1"/>
                <c:pt idx="0">
                  <c:v>3.Young Adults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'age+time'!$C$5:$C$10</c:f>
              <c:strCache>
                <c:ptCount val="5"/>
                <c:pt idx="0">
                  <c:v>1.Morning</c:v>
                </c:pt>
                <c:pt idx="1">
                  <c:v>2.Afternoon</c:v>
                </c:pt>
                <c:pt idx="2">
                  <c:v>3.Evening Peak</c:v>
                </c:pt>
                <c:pt idx="3">
                  <c:v>4.Night</c:v>
                </c:pt>
                <c:pt idx="4">
                  <c:v>5.Late Night</c:v>
                </c:pt>
              </c:strCache>
            </c:strRef>
          </c:cat>
          <c:val>
            <c:numRef>
              <c:f>'age+time'!$G$5:$G$10</c:f>
              <c:numCache>
                <c:formatCode>General</c:formatCode>
                <c:ptCount val="5"/>
                <c:pt idx="0">
                  <c:v>365</c:v>
                </c:pt>
                <c:pt idx="1">
                  <c:v>437</c:v>
                </c:pt>
                <c:pt idx="2">
                  <c:v>336</c:v>
                </c:pt>
                <c:pt idx="3">
                  <c:v>253</c:v>
                </c:pt>
                <c:pt idx="4">
                  <c:v>93</c:v>
                </c:pt>
              </c:numCache>
            </c:numRef>
          </c:val>
        </c:ser>
        <c:ser>
          <c:idx val="4"/>
          <c:order val="4"/>
          <c:tx>
            <c:strRef>
              <c:f>'age+time'!$H$3:$H$4</c:f>
              <c:strCache>
                <c:ptCount val="1"/>
                <c:pt idx="0">
                  <c:v>2.Teens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'age+time'!$C$5:$C$10</c:f>
              <c:strCache>
                <c:ptCount val="5"/>
                <c:pt idx="0">
                  <c:v>1.Morning</c:v>
                </c:pt>
                <c:pt idx="1">
                  <c:v>2.Afternoon</c:v>
                </c:pt>
                <c:pt idx="2">
                  <c:v>3.Evening Peak</c:v>
                </c:pt>
                <c:pt idx="3">
                  <c:v>4.Night</c:v>
                </c:pt>
                <c:pt idx="4">
                  <c:v>5.Late Night</c:v>
                </c:pt>
              </c:strCache>
            </c:strRef>
          </c:cat>
          <c:val>
            <c:numRef>
              <c:f>'age+time'!$H$5:$H$10</c:f>
              <c:numCache>
                <c:formatCode>General</c:formatCode>
                <c:ptCount val="5"/>
                <c:pt idx="0">
                  <c:v>54</c:v>
                </c:pt>
                <c:pt idx="1">
                  <c:v>56</c:v>
                </c:pt>
                <c:pt idx="2">
                  <c:v>42</c:v>
                </c:pt>
                <c:pt idx="3">
                  <c:v>24</c:v>
                </c:pt>
                <c:pt idx="4">
                  <c:v>4</c:v>
                </c:pt>
              </c:numCache>
            </c:numRef>
          </c:val>
        </c:ser>
        <c:ser>
          <c:idx val="5"/>
          <c:order val="5"/>
          <c:tx>
            <c:strRef>
              <c:f>'age+time'!$I$3:$I$4</c:f>
              <c:strCache>
                <c:ptCount val="1"/>
                <c:pt idx="0">
                  <c:v>1.Kids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'age+time'!$C$5:$C$10</c:f>
              <c:strCache>
                <c:ptCount val="5"/>
                <c:pt idx="0">
                  <c:v>1.Morning</c:v>
                </c:pt>
                <c:pt idx="1">
                  <c:v>2.Afternoon</c:v>
                </c:pt>
                <c:pt idx="2">
                  <c:v>3.Evening Peak</c:v>
                </c:pt>
                <c:pt idx="3">
                  <c:v>4.Night</c:v>
                </c:pt>
                <c:pt idx="4">
                  <c:v>5.Late Night</c:v>
                </c:pt>
              </c:strCache>
            </c:strRef>
          </c:cat>
          <c:val>
            <c:numRef>
              <c:f>'age+time'!$I$5:$I$10</c:f>
              <c:numCache>
                <c:formatCode>General</c:formatCode>
                <c:ptCount val="5"/>
                <c:pt idx="0">
                  <c:v>86</c:v>
                </c:pt>
                <c:pt idx="1">
                  <c:v>119</c:v>
                </c:pt>
                <c:pt idx="2">
                  <c:v>92</c:v>
                </c:pt>
                <c:pt idx="3">
                  <c:v>43</c:v>
                </c:pt>
                <c:pt idx="4">
                  <c:v>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28047200"/>
        <c:axId val="228045632"/>
      </c:barChart>
      <c:catAx>
        <c:axId val="228047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045632"/>
        <c:crosses val="autoZero"/>
        <c:auto val="1"/>
        <c:lblAlgn val="ctr"/>
        <c:lblOffset val="100"/>
        <c:noMultiLvlLbl val="0"/>
      </c:catAx>
      <c:valAx>
        <c:axId val="2280456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047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[final_touched up_datase.xlsx]best_content!PivotTable11</c:name>
    <c:fmtId val="9"/>
  </c:pivotSource>
  <c:chart>
    <c:autoTitleDeleted val="1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best_content!$D$26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best_content!$C$27:$C$37</c:f>
              <c:strCache>
                <c:ptCount val="10"/>
                <c:pt idx="0">
                  <c:v>Supersport Live Events</c:v>
                </c:pt>
                <c:pt idx="1">
                  <c:v>ICC Cricket World Cup 2011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</c:strCache>
            </c:strRef>
          </c:cat>
          <c:val>
            <c:numRef>
              <c:f>best_content!$D$27:$D$37</c:f>
              <c:numCache>
                <c:formatCode>General</c:formatCode>
                <c:ptCount val="10"/>
                <c:pt idx="0">
                  <c:v>1662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28038968"/>
        <c:axId val="228039752"/>
      </c:barChart>
      <c:catAx>
        <c:axId val="228038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039752"/>
        <c:crosses val="autoZero"/>
        <c:auto val="1"/>
        <c:lblAlgn val="ctr"/>
        <c:lblOffset val="100"/>
        <c:noMultiLvlLbl val="0"/>
      </c:catAx>
      <c:valAx>
        <c:axId val="228039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038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No Viewing Activity</c:v>
                </c:pt>
                <c:pt idx="1">
                  <c:v>6-30 min</c:v>
                </c:pt>
                <c:pt idx="2">
                  <c:v>60+ min</c:v>
                </c:pt>
                <c:pt idx="3">
                  <c:v>31-60 min</c:v>
                </c:pt>
                <c:pt idx="4">
                  <c:v>0-5 min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860</c:v>
                </c:pt>
                <c:pt idx="1">
                  <c:v>2311</c:v>
                </c:pt>
                <c:pt idx="2">
                  <c:v>330</c:v>
                </c:pt>
                <c:pt idx="3">
                  <c:v>426</c:v>
                </c:pt>
                <c:pt idx="4">
                  <c:v>6073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7682416"/>
        <c:axId val="277682808"/>
      </c:barChart>
      <c:catAx>
        <c:axId val="2776824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77682808"/>
        <c:crosses val="autoZero"/>
        <c:auto val="1"/>
        <c:lblAlgn val="ctr"/>
        <c:lblOffset val="100"/>
        <c:noMultiLvlLbl val="1"/>
      </c:catAx>
      <c:valAx>
        <c:axId val="277682808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77682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[final_touched up_datase.xlsx]viewership_by_province!PivotTable6</c:name>
    <c:fmtId val="4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viewership_by_province!$D$9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viewership_by_province!$C$10:$C$20</c:f>
              <c:strCache>
                <c:ptCount val="10"/>
                <c:pt idx="0">
                  <c:v>Eastern Cape</c:v>
                </c:pt>
                <c:pt idx="1">
                  <c:v>Free State</c:v>
                </c:pt>
                <c:pt idx="2">
                  <c:v>Gauteng</c:v>
                </c:pt>
                <c:pt idx="3">
                  <c:v>Kwazulu Natal</c:v>
                </c:pt>
                <c:pt idx="4">
                  <c:v>Limpopo</c:v>
                </c:pt>
                <c:pt idx="5">
                  <c:v>Mpumalanga</c:v>
                </c:pt>
                <c:pt idx="6">
                  <c:v>North West</c:v>
                </c:pt>
                <c:pt idx="7">
                  <c:v>Northern Cape</c:v>
                </c:pt>
                <c:pt idx="8">
                  <c:v>Unknown</c:v>
                </c:pt>
                <c:pt idx="9">
                  <c:v>Western Cape</c:v>
                </c:pt>
              </c:strCache>
            </c:strRef>
          </c:cat>
          <c:val>
            <c:numRef>
              <c:f>viewership_by_province!$D$10:$D$20</c:f>
              <c:numCache>
                <c:formatCode>General</c:formatCode>
                <c:ptCount val="10"/>
                <c:pt idx="0">
                  <c:v>690</c:v>
                </c:pt>
                <c:pt idx="1">
                  <c:v>292</c:v>
                </c:pt>
                <c:pt idx="2">
                  <c:v>3654</c:v>
                </c:pt>
                <c:pt idx="3">
                  <c:v>1001</c:v>
                </c:pt>
                <c:pt idx="4">
                  <c:v>763</c:v>
                </c:pt>
                <c:pt idx="5">
                  <c:v>918</c:v>
                </c:pt>
                <c:pt idx="6">
                  <c:v>344</c:v>
                </c:pt>
                <c:pt idx="7">
                  <c:v>230</c:v>
                </c:pt>
                <c:pt idx="8">
                  <c:v>263</c:v>
                </c:pt>
                <c:pt idx="9">
                  <c:v>1845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28040144"/>
        <c:axId val="228047592"/>
      </c:barChart>
      <c:catAx>
        <c:axId val="228040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047592"/>
        <c:crosses val="autoZero"/>
        <c:auto val="1"/>
        <c:lblAlgn val="ctr"/>
        <c:lblOffset val="100"/>
        <c:noMultiLvlLbl val="0"/>
      </c:catAx>
      <c:valAx>
        <c:axId val="2280475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040144"/>
        <c:crosses val="autoZero"/>
        <c:crossBetween val="between"/>
      </c:valAx>
      <c:spPr>
        <a:noFill/>
        <a:ln>
          <a:noFill/>
        </a:ln>
        <a:effectLst>
          <a:outerShdw blurRad="50800" dist="50800" dir="5400000" algn="ctr" rotWithShape="0">
            <a:schemeClr val="accent1"/>
          </a:outerShdw>
        </a:effectLst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bubble3D val="0"/>
            <c:spPr>
              <a:solidFill>
                <a:srgbClr val="1A3A6B"/>
              </a:solidFill>
              <a:effectLst/>
            </c:spPr>
          </c:dPt>
          <c:dLbls>
            <c:spPr>
              <a:noFill/>
              <a:ln>
                <a:noFill/>
              </a:ln>
              <a:effectLst/>
            </c:sp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Coloured</c:v>
                </c:pt>
                <c:pt idx="2">
                  <c:v>Indian_Asian</c:v>
                </c:pt>
                <c:pt idx="3">
                  <c:v>Other</c:v>
                </c:pt>
                <c:pt idx="4">
                  <c:v>White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43.31</c:v>
                </c:pt>
                <c:pt idx="1">
                  <c:v>16.329999999999998</c:v>
                </c:pt>
                <c:pt idx="2">
                  <c:v>15.75</c:v>
                </c:pt>
                <c:pt idx="3">
                  <c:v>11.69</c:v>
                </c:pt>
                <c:pt idx="4">
                  <c:v>12.92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[final_touched up_datase.xlsx]race+gender!PivotTable8</c:name>
    <c:fmtId val="24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'race+gender'!$D$4:$D$5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'race+gender'!$C$6:$C$11</c:f>
              <c:strCache>
                <c:ptCount val="5"/>
                <c:pt idx="0">
                  <c:v>Black</c:v>
                </c:pt>
                <c:pt idx="1">
                  <c:v>Coloured</c:v>
                </c:pt>
                <c:pt idx="2">
                  <c:v>Indian_Asian</c:v>
                </c:pt>
                <c:pt idx="3">
                  <c:v>Other</c:v>
                </c:pt>
                <c:pt idx="4">
                  <c:v>White</c:v>
                </c:pt>
              </c:strCache>
            </c:strRef>
          </c:cat>
          <c:val>
            <c:numRef>
              <c:f>'race+gender'!$D$6:$D$11</c:f>
              <c:numCache>
                <c:formatCode>General</c:formatCode>
                <c:ptCount val="5"/>
                <c:pt idx="0">
                  <c:v>501</c:v>
                </c:pt>
                <c:pt idx="1">
                  <c:v>135</c:v>
                </c:pt>
                <c:pt idx="2">
                  <c:v>92</c:v>
                </c:pt>
                <c:pt idx="3">
                  <c:v>134</c:v>
                </c:pt>
                <c:pt idx="4">
                  <c:v>115</c:v>
                </c:pt>
              </c:numCache>
            </c:numRef>
          </c:val>
        </c:ser>
        <c:ser>
          <c:idx val="1"/>
          <c:order val="1"/>
          <c:tx>
            <c:strRef>
              <c:f>'race+gender'!$E$4:$E$5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'race+gender'!$C$6:$C$11</c:f>
              <c:strCache>
                <c:ptCount val="5"/>
                <c:pt idx="0">
                  <c:v>Black</c:v>
                </c:pt>
                <c:pt idx="1">
                  <c:v>Coloured</c:v>
                </c:pt>
                <c:pt idx="2">
                  <c:v>Indian_Asian</c:v>
                </c:pt>
                <c:pt idx="3">
                  <c:v>Other</c:v>
                </c:pt>
                <c:pt idx="4">
                  <c:v>White</c:v>
                </c:pt>
              </c:strCache>
            </c:strRef>
          </c:cat>
          <c:val>
            <c:numRef>
              <c:f>'race+gender'!$E$6:$E$11</c:f>
              <c:numCache>
                <c:formatCode>General</c:formatCode>
                <c:ptCount val="5"/>
                <c:pt idx="0">
                  <c:v>3830</c:v>
                </c:pt>
                <c:pt idx="1">
                  <c:v>1498</c:v>
                </c:pt>
                <c:pt idx="2">
                  <c:v>1483</c:v>
                </c:pt>
                <c:pt idx="3">
                  <c:v>773</c:v>
                </c:pt>
                <c:pt idx="4">
                  <c:v>1177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28046024"/>
        <c:axId val="228046808"/>
      </c:barChart>
      <c:catAx>
        <c:axId val="2280460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046808"/>
        <c:crosses val="autoZero"/>
        <c:auto val="1"/>
        <c:lblAlgn val="ctr"/>
        <c:lblOffset val="100"/>
        <c:noMultiLvlLbl val="0"/>
      </c:catAx>
      <c:valAx>
        <c:axId val="228046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046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620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5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4904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TV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Viewership Analytics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907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to Support Subscription Growth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10,000 session records  ·  Demographic &amp; Geographic Insights  ·  Strategic Recommendations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Objective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sets out to achieve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713232"/>
          </a:xfrm>
          <a:prstGeom prst="rect">
            <a:avLst/>
          </a:prstGeom>
          <a:solidFill>
            <a:srgbClr val="E2F0FB"/>
          </a:solidFill>
          <a:ln w="6350">
            <a:solidFill>
              <a:srgbClr val="D1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4721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47218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usage trends across the platform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67128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3408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234086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that influence content consumption behaviour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8229600" cy="713232"/>
          </a:xfrm>
          <a:prstGeom prst="rect">
            <a:avLst/>
          </a:prstGeom>
          <a:solidFill>
            <a:srgbClr val="E2F0FB"/>
          </a:solidFill>
          <a:ln w="6350">
            <a:solidFill>
              <a:srgbClr val="D1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35808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2095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20954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strategies for low-consumption periods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04488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04488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40782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407822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initiatives to grow the subscriber base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Analytical Approach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tools, and methodology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11480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98448"/>
            <a:ext cx="10972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264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dataset covering user sessions across the platform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98448"/>
            <a:ext cx="411480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98448"/>
            <a:ext cx="10972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4264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Demographics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attributes linked to each session for segmentation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411480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35808"/>
            <a:ext cx="10972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638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38404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transformation, and UTC → SAST timestamp conversion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035808"/>
            <a:ext cx="411480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035808"/>
            <a:ext cx="10972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1638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29200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0" y="38404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visual analysis for stakeholder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Viewership Distribution Across Age Groups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 BrightTV?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9166530"/>
              </p:ext>
            </p:extLst>
          </p:nvPr>
        </p:nvGraphicFramePr>
        <p:xfrm>
          <a:off x="365760" y="1170432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1170432"/>
            <a:ext cx="2331720" cy="3657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1968" y="12984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601968" y="1737360"/>
            <a:ext cx="210312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17830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&amp; Mid-Age Adults account for over 75% of all sessions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01968" y="2697480"/>
            <a:ext cx="210312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27432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&amp; Teens represent a very small share of total viewing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01968" y="3657600"/>
            <a:ext cx="210312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93408" y="37033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 should prioritise working-age viewers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Viewership Trends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days drive the most engagement?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4315968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the lowest-engagement day </a:t>
            </a:r>
            <a:r>
              <a:rPr lang="en-US" sz="12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opportunity for targeted re-engagement tactics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builds through the week, peaking strongly on Friday and Saturday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strategy should leverage high organic engagement; Monday needs dedicated programming</a:t>
            </a:r>
            <a:endParaRPr lang="en-US" sz="1250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6513449"/>
              </p:ext>
            </p:extLst>
          </p:nvPr>
        </p:nvGraphicFramePr>
        <p:xfrm>
          <a:off x="164592" y="1200150"/>
          <a:ext cx="8979408" cy="3033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Engagement Across Time Cohorts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users watch BrightTV?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049897178"/>
              </p:ext>
            </p:extLst>
          </p:nvPr>
        </p:nvGraphicFramePr>
        <p:xfrm>
          <a:off x="365760" y="1170432"/>
          <a:ext cx="84124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315968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is the strongest single viewing period across all users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 is a close second </a:t>
            </a:r>
            <a:r>
              <a:rPr lang="en-US" sz="12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two windows drive the majority of sessions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premium or promotional content in Afternoon and Evening windows will maximise reach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Viewing Patterns by Age Group &amp; Time of Day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 cohort chart </a:t>
            </a:r>
            <a:r>
              <a:rPr lang="en-US" sz="1050" dirty="0" smtClean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segmented </a:t>
            </a: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4315968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&amp; Mid-Age Adults are the dominant contributors across every time period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is the strongest cohort overall </a:t>
            </a:r>
            <a:r>
              <a:rPr lang="en-US" sz="12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important for the core audience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segments are present in all periods but represent a much smaller share</a:t>
            </a:r>
            <a:endParaRPr lang="en-US" sz="1250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2708971"/>
              </p:ext>
            </p:extLst>
          </p:nvPr>
        </p:nvGraphicFramePr>
        <p:xfrm>
          <a:off x="164592" y="1197864"/>
          <a:ext cx="8543640" cy="3118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Most Viewed Content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content drives the most sessions?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 is the #1 content driver — sports anchors the platform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2011 ranks #2, confirming live sport dominates viewership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channels account for a large share of total sessions</a:t>
            </a:r>
            <a:endParaRPr lang="en-US" sz="1150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3446725"/>
              </p:ext>
            </p:extLst>
          </p:nvPr>
        </p:nvGraphicFramePr>
        <p:xfrm>
          <a:off x="406135" y="1200150"/>
          <a:ext cx="8488483" cy="3326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Engagement Based on Viewing Duration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 viewers stay on platform?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231105627"/>
              </p:ext>
            </p:extLst>
          </p:nvPr>
        </p:nvGraphicFramePr>
        <p:xfrm>
          <a:off x="258554" y="1197864"/>
          <a:ext cx="8412480" cy="3187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85578" y="4319752"/>
            <a:ext cx="8412480" cy="823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 sessions vastly outnumber all others </a:t>
            </a:r>
            <a:r>
              <a:rPr lang="en-US" sz="12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viewers leave very quickly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noticeable drop-off occurs after the first 5 minutes, indicating weak content stickiness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hooks and better onboarding could retain viewers past the critical entry window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Viewership Distribution by Province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BrightTV's viewers located?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4315968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leads by a very large margin with 3,654 sessions — far ahead of all other provinces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Cape is the clear second market at 1,845 sessions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campaigns, partnerships, and localised content on these two provinces first</a:t>
            </a:r>
            <a:endParaRPr lang="en-US" sz="1250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5247499"/>
              </p:ext>
            </p:extLst>
          </p:nvPr>
        </p:nvGraphicFramePr>
        <p:xfrm>
          <a:off x="0" y="1197864"/>
          <a:ext cx="9144000" cy="3035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Distribution by Race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BrightTV's audience diversity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38473927"/>
              </p:ext>
            </p:extLst>
          </p:nvPr>
        </p:nvGraphicFramePr>
        <p:xfrm>
          <a:off x="214745" y="1170432"/>
          <a:ext cx="5187143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170432"/>
            <a:ext cx="3154680" cy="3657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2984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06440" y="1737360"/>
            <a:ext cx="283464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7830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users form the largest segment at approximately </a:t>
            </a:r>
            <a:r>
              <a:rPr lang="en-US" sz="10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43.31 %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platform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2697480"/>
            <a:ext cx="283464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74320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serves a genuinely diverse audience across all major demographic groups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06440" y="3657600"/>
            <a:ext cx="283464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37033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language strategy &amp; campaigns should reflect this diversity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Viewership by Race &amp; Gender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engagement gaps across demographics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20040" y="412449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users dominate viewership across all race categories </a:t>
            </a:r>
            <a:r>
              <a:rPr lang="en-US" sz="11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female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is significantly lower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male users form the single largest segment on the platform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content that appeals to female audiences could substantially grow total engagement</a:t>
            </a:r>
            <a:endParaRPr lang="en-US" sz="1150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1250451"/>
              </p:ext>
            </p:extLst>
          </p:nvPr>
        </p:nvGraphicFramePr>
        <p:xfrm>
          <a:off x="164592" y="1078993"/>
          <a:ext cx="8979408" cy="2883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Factors Influencing Consumption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viewership on BrightTV?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1600200" cy="35844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88720"/>
            <a:ext cx="1600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13716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0624" y="20574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Profile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" y="254203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&amp; Mid-Age Adults dominate all viewing segments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66544" y="1188720"/>
            <a:ext cx="1600200" cy="35844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66544" y="1188720"/>
            <a:ext cx="1600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324" y="13716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39696" y="20574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of Day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139696" y="254203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and Evening Peak are the strongest windows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85616" y="1188720"/>
            <a:ext cx="1600200" cy="35844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85616" y="1188720"/>
            <a:ext cx="1600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1396" y="137160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58768" y="20574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of Week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858768" y="254203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and Saturday consistently perform best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504688" y="1188720"/>
            <a:ext cx="1600200" cy="35844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504688" y="1188720"/>
            <a:ext cx="1600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0468" y="137160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20574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Type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577840" y="254203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and entertainment channels lead viewership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223760" y="1188720"/>
            <a:ext cx="1600200" cy="35844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223760" y="1188720"/>
            <a:ext cx="1600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9540" y="1371600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96912" y="20574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296912" y="254203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and Western Cape are the dominant markets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8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Recommendations for Low-Consumption Periods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7040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quiet days into engagement opportunities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2062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5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1389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Monday Re-engagement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170078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Monday as the primary recovery day with targeted content pushes to inactive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23744"/>
            <a:ext cx="42062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5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23744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895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" y="26334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 Highlights &amp; Replays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94436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strong-performing sports in a lighter recap format to drive quick, easy sessions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67328"/>
            <a:ext cx="42062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5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67328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33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38770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Short-Form Entertainment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418795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easy-entry clips that lower the commitment bar and attract browsing users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280160"/>
            <a:ext cx="42062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5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28016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22392" y="1389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Teaser Campaigns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22392" y="170078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anticipation before Afternoon and Evening Peak windows with scheduled teasers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523744"/>
            <a:ext cx="4206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5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523744"/>
            <a:ext cx="5029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798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22392" y="26334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Personalised Recommendations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22392" y="294436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AI-driven prompts for short-session or inactive users to improve content discovery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Initiatives to Grow BrightTV's User 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680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actions to attract new subscribers and increase repeat consumption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88920" cy="16276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27889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4173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39903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Core Demographics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" y="189280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campaigns aimed at Adults &amp; Mid-Age Adults </a:t>
            </a:r>
            <a:r>
              <a:rPr lang="en-US" sz="10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proven core audience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788920" cy="16276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234440"/>
            <a:ext cx="27889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4173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139903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Re-engage Short-Session Users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55848" y="189280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prompts and content nudges to bring back users who left early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72200" y="1234440"/>
            <a:ext cx="2788920" cy="16276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72200" y="1234440"/>
            <a:ext cx="27889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4173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139903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 Female Audience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81928" y="189280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or promote content that broadens female engagement across all demographics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20040" y="3017520"/>
            <a:ext cx="2788920" cy="16276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20040" y="3017520"/>
            <a:ext cx="27889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20040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318211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Campaign Focus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29768" y="367588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Gauteng and Western Cape for marketing spend, partnerships, and localised content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46120" y="3017520"/>
            <a:ext cx="2788920" cy="16276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46120" y="3017520"/>
            <a:ext cx="27889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20040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94760" y="318211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Prime-Time Content Strategy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55848" y="367588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highest-performing content during Afternoon and Evening Peak to maximise reach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72200" y="3017520"/>
            <a:ext cx="2788920" cy="16276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172200" y="3017520"/>
            <a:ext cx="27889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20040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0840" y="318211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Low-Day Programming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81928" y="367588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Monday for special offers, exclusive drops, or themed content to lift the lowest day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</a:t>
            </a:r>
            <a:r>
              <a:rPr lang="en-US" sz="1300" dirty="0" smtClean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BrightTV should do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914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44168"/>
            <a:ext cx="8065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&amp; Mid-Age Adults drive the majority of all sessions and should remain the core strategic focus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1993392"/>
            <a:ext cx="8412480" cy="621792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93392"/>
            <a:ext cx="914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057400"/>
            <a:ext cx="8065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peaks in the Afternoon and Evening, and toward the end of the week </a:t>
            </a:r>
            <a:r>
              <a:rPr lang="en-US" sz="12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windows wisely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706624"/>
            <a:ext cx="8412480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06624"/>
            <a:ext cx="914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770632"/>
            <a:ext cx="8065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and entertainment content are the strongest engagement anchors on the platform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8412480" cy="621792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19856"/>
            <a:ext cx="914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483864"/>
            <a:ext cx="8065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is the lead province; Western Cape is the key secondary market </a:t>
            </a:r>
            <a:r>
              <a:rPr lang="en-US" sz="12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warrant concentrated effort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4133088"/>
            <a:ext cx="8412480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133088"/>
            <a:ext cx="914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4197096"/>
            <a:ext cx="8065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can accelerate subscription growth by targeting high-value segments and activating low-consumption periods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6003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·  Viewership Analytics  </a:t>
            </a:r>
            <a:r>
              <a:rPr lang="en-US" sz="900" b="1" dirty="0" smtClean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957</Words>
  <Application>Microsoft Office PowerPoint</Application>
  <PresentationFormat>On-screen Show (16:9)</PresentationFormat>
  <Paragraphs>149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</dc:subject>
  <dc:creator>Vhutali Vhutali</dc:creator>
  <cp:lastModifiedBy>Vhutali Madzhuta</cp:lastModifiedBy>
  <cp:revision>13</cp:revision>
  <dcterms:created xsi:type="dcterms:W3CDTF">2026-04-19T21:27:03Z</dcterms:created>
  <dcterms:modified xsi:type="dcterms:W3CDTF">2026-04-20T09:19:23Z</dcterms:modified>
</cp:coreProperties>
</file>